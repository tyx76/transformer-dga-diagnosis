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3" r:id="rId24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143000"/>
            <a:ext cx="100584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面向油浸式电力变压器故障根因分析的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知识增强大模型调研汇报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7F6"/>
                </a:solidFill>
                <a:latin typeface="Microsoft YaHei"/>
              </a:rPr>
              <a:t>行业落地案例 · 主干论文技术路线 · 项目下一步 · 未来展望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16636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项目成员：田雨翔、熊伯睿</a:t>
            </a:r>
          </a:p>
          <a:p>
            <a:pPr algn="l"/>
            <a:r>
              <a:rPr sz="1200" b="0">
                <a:solidFill>
                  <a:srgbClr val="D6E7F6"/>
                </a:solidFill>
                <a:latin typeface="Microsoft YaHei"/>
              </a:rPr>
              <a:t>四川大学未来技术创新创业社团考核·考题八</a:t>
            </a:r>
          </a:p>
          <a:p>
            <a:pPr algn="l"/>
            <a:r>
              <a:rPr sz="1200" b="0">
                <a:solidFill>
                  <a:srgbClr val="D6E7F6"/>
                </a:solidFill>
                <a:latin typeface="Microsoft YaHei"/>
              </a:rPr>
              <a:t>2026年9月17日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0050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6E7F6"/>
                </a:solidFill>
                <a:latin typeface="Microsoft YaHei"/>
              </a:rPr>
              <a:t>备注：核心调研、文献阅读、方案判断与内容撰写由项目成员完成，AI仅用于润色、结构整理与版式排版。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434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友情鸣谢：黄子轩、先兴建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汇报主线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从行业对标到项目落地，聚焦四件事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651760" cy="2560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73152" cy="256032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3677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5597"/>
                </a:solidFill>
                <a:latin typeface="Microsoft YaHei"/>
              </a:rPr>
              <a:t>01  行业落地案例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39696"/>
            <a:ext cx="228600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Microsoft YaHei"/>
              </a:rPr>
              <a:t>国网、南网、国家电投及 DGA 专项实践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651760" cy="2560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73152" cy="2560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63677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Microsoft YaHei"/>
              </a:rPr>
              <a:t>02  主干论文技术路线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139696"/>
            <a:ext cx="228600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Microsoft YaHei"/>
              </a:rPr>
              <a:t>RAG 演进、Agent/RCA、可信生成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2651760" cy="2560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73152" cy="2560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163677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AD47"/>
                </a:solidFill>
                <a:latin typeface="Microsoft YaHei"/>
              </a:rPr>
              <a:t>03  项目下一步发展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139696"/>
            <a:ext cx="228600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Microsoft YaHei"/>
              </a:rPr>
              <a:t>P0–P2 优先级、目标架构、评测指标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08760"/>
            <a:ext cx="2651760" cy="2560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508760"/>
            <a:ext cx="73152" cy="25603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163677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30A0"/>
                </a:solidFill>
                <a:latin typeface="Microsoft YaHei"/>
              </a:rPr>
              <a:t>04  未来展望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139696"/>
            <a:ext cx="228600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Microsoft YaHei"/>
              </a:rPr>
              <a:t>DGA 助手 → 知识图谱 → 多模态工业诊断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F4E79"/>
                </a:solidFill>
                <a:latin typeface="Microsoft YaHei"/>
              </a:rPr>
              <a:t>核心判断：工业诊断不能依赖纯 LLM，确定性规则、知识检索、专用工具和人工复核缺一不可。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为什么需要重新调研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从“能跑通”走向“可信、可解释、可落地”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57800" cy="16002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1600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36776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5597"/>
                </a:solidFill>
                <a:latin typeface="Microsoft YaHei"/>
              </a:rPr>
              <a:t>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39696"/>
            <a:ext cx="4892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已有检索—生成—引用闭环，能够完成基础问答，但整体接近 Naive RAG。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57800" cy="16002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73152" cy="1600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636776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Microsoft YaHei"/>
              </a:rPr>
              <a:t>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139696"/>
            <a:ext cx="4892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完全口语化输入容易检索失效；专业术语、条号和长文本证据稳定性不足。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5257800" cy="16002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73152" cy="1600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557016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Microsoft YaHei"/>
              </a:rPr>
              <a:t>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059935"/>
            <a:ext cx="4892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规则给骨架、RAG 给证据、Agent 做编排、LLM 做解释，人工做最终确认。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29000"/>
            <a:ext cx="5257800" cy="16002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429000"/>
            <a:ext cx="73152" cy="16002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3557016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30A0"/>
                </a:solidFill>
                <a:latin typeface="Microsoft YaHei"/>
              </a:rPr>
              <a:t>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059935"/>
            <a:ext cx="4892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形成可溯源的 DGA 根因报告，并建立检索、引用、拒答和安全评测闭环。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行业落地案例：路线与指标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公开整理材料，正式引用前需补齐原始来源与指标口径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697480" cy="30632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697480" cy="5943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36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国网湖北电力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3172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5597"/>
                </a:solidFill>
                <a:latin typeface="Microsoft YaHei"/>
              </a:rPr>
              <a:t>光明大模型 + 多模态数据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15468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13.5TB 多模态数据
抢修效率 +35%
推广 27 个省市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08760"/>
            <a:ext cx="2697480" cy="30632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08760"/>
            <a:ext cx="269748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636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国网福建电力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33172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Microsoft YaHei"/>
              </a:rPr>
              <a:t>大小模型协同 + 多智能体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15468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5 分钟识别 6 类故障
220kV+ 准确率 &gt;80%
运维效率 +50%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08760"/>
            <a:ext cx="2697480" cy="30632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508760"/>
            <a:ext cx="269748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1636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国网泉州供电公司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33172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Microsoft YaHei"/>
              </a:rPr>
              <a:t>GraphRAG + 图检索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315468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故障定位缩短约 15 分钟
历史案例检索分钟级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508760"/>
            <a:ext cx="2697480" cy="30632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508760"/>
            <a:ext cx="2697480" cy="5943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636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电力化学技术交流会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33172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030A0"/>
                </a:solidFill>
                <a:latin typeface="Microsoft YaHei"/>
              </a:rPr>
              <a:t>光明大模型 + RAG + CoT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15468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DGA 专家一致率 &gt;85%
小时级 → 分钟级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Microsoft YaHei"/>
              </a:rPr>
              <a:t>最同构：DGA 化学技术交流会案例——目标场景、知识库和诊断闭环均与本项目接近。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补充案例：结构与多模态路线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行业并非单一路线，关键是根据任务选择架构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50876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2926080"/>
                <a:gridCol w="2743200"/>
              </a:tblGrid>
              <a:tr h="8915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案例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技术路线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关键指标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启示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南网昆明供电局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DeepSeek + 结构化知识库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主变验收 1.5h → 15min，效率 +83.3%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结构化知识库适合流程化任务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国家电投河南公司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DeepSeek + RAG + 知识库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覆盖 200–1000MW 机组，预警 &gt;85%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RAG 在电力预警中有效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MM-RAGDiag（学术）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DGA + 红外 + 声学 + 巡检文本 + 本地 RAG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诊断准确率 97.1%，BLEU-4 72.4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多模态是未来扩展，不必急于现在实现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2578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Microsoft YaHei"/>
              </a:rPr>
              <a:t>结论：近期先把 DGA 单一模态做深，将多模态、图关系和微调作为后续路线。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行业案例的四个共同启示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从案例中提炼可复用设计原则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73152" cy="1554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82495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5597"/>
                </a:solidFill>
                <a:latin typeface="Microsoft YaHei"/>
              </a:rPr>
              <a:t>知识库是底座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85415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行业方案普遍使用专属知识库，RAG/GraphRAG 是主要接入方式。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73152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82495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Microsoft YaHei"/>
              </a:rPr>
              <a:t>小模型做计算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85415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规则、波形、数值和仿真更适合由确定性工具完成。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474720"/>
            <a:ext cx="73152" cy="1554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602736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Microsoft YaHei"/>
              </a:rPr>
              <a:t>大模型做解释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105656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LLM 负责综合、根因链、报告组织和人机交互。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73152" cy="15544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602736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30A0"/>
                </a:solidFill>
                <a:latin typeface="Microsoft YaHei"/>
              </a:rPr>
              <a:t>人工复核兜底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05656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高风险处置不能自动执行，必须有规则否决和人工确认。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技术路线地图：三个正交视角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参考项目技术路线调研编号 1-1～3-3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520440" cy="35661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73152" cy="35661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7335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5597"/>
                </a:solidFill>
                <a:latin typeface="Microsoft YaHei"/>
              </a:rPr>
              <a:t>视角一｜知识注入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3108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1-1 Prompt / 长上下文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1-2 向量 RAG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1-3 KG / GraphRAG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1-4 领域微调 / LoRA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520440" cy="35661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73152" cy="3566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67335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Microsoft YaHei"/>
              </a:rPr>
              <a:t>视角二｜诊断逻辑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76272"/>
            <a:ext cx="3108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2-1 规则 / 机理法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2-2 数据驱动 ML/DL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2-3 纯 LLM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2-4 混合路线（推荐）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554480"/>
            <a:ext cx="3520440" cy="35661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554480"/>
            <a:ext cx="73152" cy="3566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67335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AD47"/>
                </a:solidFill>
                <a:latin typeface="Microsoft YaHei"/>
              </a:rPr>
              <a:t>视角三｜系统形态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76272"/>
            <a:ext cx="3108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3-1 单轮问答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3-2 Agent 多步工作流（主线）</a:t>
            </a:r>
          </a:p>
          <a:p>
            <a:pPr>
              <a:spcAft>
                <a:spcPts val="400"/>
              </a:spcAft>
              <a:defRPr sz="1600">
                <a:solidFill>
                  <a:srgbClr val="1F1F1F"/>
                </a:solidFill>
                <a:latin typeface="Microsoft YaHei"/>
              </a:defRPr>
            </a:pPr>
            <a:r>
              <a:t>• 3-3 人机协同 / 人工复核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推荐：2-1 规则底座 + 1-2 向量 RAG + 3-2 受控 Agent + 3-3 人工复核；1-3 作为第二阶段增强。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主干论文 B1：RAG 三阶段演进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从固定检索生成到模块化编排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520440" cy="32918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3520440" cy="5943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Naive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063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Microsoft YaHei"/>
              </a:rPr>
              <a:t>索引 → 检索 → 拼接 → 生成
结构简单，检索质量决定上限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06240" y="2971800"/>
            <a:ext cx="201168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520440" cy="329184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554480"/>
            <a:ext cx="352044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82496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Advanced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14600"/>
            <a:ext cx="3063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Microsoft YaHei"/>
              </a:rPr>
              <a:t>查询改写、扩展、路由
重排、压缩、证据选择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92440" y="2971800"/>
            <a:ext cx="201168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1554480"/>
            <a:ext cx="3520440" cy="3291840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554480"/>
            <a:ext cx="352044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682496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Modular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514600"/>
            <a:ext cx="3063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Microsoft YaHei"/>
              </a:rPr>
              <a:t>Search / Memory / Routing / Predict / Task Adapter
模块替换与流程重排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95959"/>
                </a:solidFill>
                <a:latin typeface="Microsoft YaHei"/>
              </a:rPr>
              <a:t>补充：多模态、自适应检索、记忆和工具编排是扩展方向，不是所有 RAG 的唯一演进路线。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目标 RAG 链路：从基础检索升级到证据闭环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P0 优先插入混合检索和引用校验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874519"/>
            <a:ext cx="1645920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2084831"/>
            <a:ext cx="14996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Microsoft YaHei"/>
              </a:rPr>
              <a:t>查询规范化
气体/设备/单位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02536" y="2450592"/>
            <a:ext cx="219456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58568" y="1874519"/>
            <a:ext cx="1645920" cy="141732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084831"/>
            <a:ext cx="14996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BM25 + 向量
混合召回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41064" y="2450592"/>
            <a:ext cx="219456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97096" y="1874519"/>
            <a:ext cx="1645920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2084831"/>
            <a:ext cx="14996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Microsoft YaHei"/>
              </a:rPr>
              <a:t>Reranker
重排 Top-k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79592" y="2450592"/>
            <a:ext cx="219456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35624" y="1874519"/>
            <a:ext cx="1645920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084831"/>
            <a:ext cx="14996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Microsoft YaHei"/>
              </a:rPr>
              <a:t>证据组织
条号 + 原文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18120" y="2450592"/>
            <a:ext cx="219456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4152" y="1874519"/>
            <a:ext cx="1645920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2084831"/>
            <a:ext cx="14996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Microsoft YaHei"/>
              </a:rPr>
              <a:t>LLM 报告
根因链解释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756648" y="2450592"/>
            <a:ext cx="219456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12680" y="1874519"/>
            <a:ext cx="1645920" cy="141732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2084831"/>
            <a:ext cx="14996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引用校验
RARR 简化版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当前：基础向量检索。下一步：先混合检索，再做重排；P2 再考虑子查询分解和轻量图谱。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892040"/>
            <a:ext cx="9326880" cy="100584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4892040"/>
            <a:ext cx="73152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5020055"/>
            <a:ext cx="89611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Microsoft YaHei"/>
              </a:rPr>
              <a:t>关键边界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5522975"/>
            <a:ext cx="89611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检索错误不能带病生成；引用条号无法匹配原文时，不得进入最终报告。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主干论文技术路线：Agent / 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从推理行动循环到受控工业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606040" cy="2103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606040" cy="56692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77393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95728"/>
            <a:ext cx="2286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1F1F"/>
                </a:solidFill>
                <a:latin typeface="Microsoft YaHei"/>
              </a:rPr>
              <a:t>推理—行动—观察
工具获取外部事实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7248" y="2514600"/>
            <a:ext cx="219456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2606040" cy="2103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645920"/>
            <a:ext cx="2606040" cy="5669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77393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RCAgent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395728"/>
            <a:ext cx="2286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1F1F"/>
                </a:solidFill>
                <a:latin typeface="Microsoft YaHei"/>
              </a:rPr>
              <a:t>Controller + Expert
OBSK / JsonRegen / TSC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07608" y="2514600"/>
            <a:ext cx="219456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645920"/>
            <a:ext cx="2606040" cy="2103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645920"/>
            <a:ext cx="2606040" cy="56692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77393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RCACopilot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395728"/>
            <a:ext cx="2286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1F1F"/>
                </a:solidFill>
                <a:latin typeface="Microsoft YaHei"/>
              </a:rPr>
              <a:t>Handler + 多源诊断
LLM 总结 + 历史检索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87967" y="2514600"/>
            <a:ext cx="219456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0" y="1645920"/>
            <a:ext cx="2606040" cy="2103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645920"/>
            <a:ext cx="2606040" cy="56692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177393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DiagAgent / FaultSeer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395728"/>
            <a:ext cx="2286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1F1F"/>
                </a:solidFill>
                <a:latin typeface="Microsoft YaHei"/>
              </a:rPr>
              <a:t>RAG + MCP / 小模型
Reranker + 结构化报告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43400"/>
            <a:ext cx="10332720" cy="118872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343400"/>
            <a:ext cx="731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471416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Microsoft YaHei"/>
              </a:rPr>
              <a:t>共同结论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974336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受控 Agent 优于自由探索：固定工具先算，动态检索补充，结构化输出最终报告，规则与人工保留否决权。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终稿补充：B6 × C2 的关键结论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把知识图谱与受控 Agent 落到项目路线中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20440" cy="3337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33375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45336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5597"/>
                </a:solidFill>
                <a:latin typeface="Microsoft YaHei"/>
              </a:rPr>
              <a:t>B6｜LLM-KG 融合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3154680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Microsoft YaHei"/>
              </a:rPr>
              <a:t>三类路径：LLM 增强 KG、KG 增强 LLM、双向协同。</a:t>
            </a:r>
            <a:br/>
            <a:r>
              <a:rPr sz="1300" b="0">
                <a:solidFill>
                  <a:srgbClr val="1F1F1F"/>
                </a:solidFill>
                <a:latin typeface="Microsoft YaHei"/>
              </a:rPr>
              <a:t>GraphRAG 流程：本体 → 抽取 → 索引 → 检索 → 生成。</a:t>
            </a:r>
            <a:br/>
            <a:r>
              <a:rPr sz="1300" b="0">
                <a:solidFill>
                  <a:srgbClr val="1F1F1F"/>
                </a:solidFill>
                <a:latin typeface="Microsoft YaHei"/>
              </a:rPr>
              <a:t>BERTScore 缓解同义故障描述误判。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3337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3337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45336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Microsoft YaHei"/>
              </a:rPr>
              <a:t>C2｜受控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39112"/>
            <a:ext cx="3154680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Microsoft YaHei"/>
              </a:rPr>
              <a:t>Controller：框架规则、任务要求、工具文档。</a:t>
            </a:r>
            <a:br/>
            <a:r>
              <a:rPr sz="1300" b="0">
                <a:solidFill>
                  <a:srgbClr val="1F1F1F"/>
                </a:solidFill>
                <a:latin typeface="Microsoft YaHei"/>
              </a:rPr>
              <a:t>Expert：代码/日志等专项分析，不掌全局决策。</a:t>
            </a:r>
            <a:br/>
            <a:r>
              <a:rPr sz="1300" b="0">
                <a:solidFill>
                  <a:srgbClr val="1F1F1F"/>
                </a:solidFill>
                <a:latin typeface="Microsoft YaHei"/>
              </a:rPr>
              <a:t>OBSK 管理长观察；TSC 聚合候选结论。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20440" cy="33375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33375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45336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AD47"/>
                </a:solidFill>
                <a:latin typeface="Microsoft YaHei"/>
              </a:rPr>
              <a:t>C1｜AIOps 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39112"/>
            <a:ext cx="3154680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Microsoft YaHei"/>
              </a:rPr>
              <a:t>AIOps 的故障感知、根因分析、辅助处置流程可借鉴。</a:t>
            </a:r>
            <a:br/>
            <a:r>
              <a:rPr sz="1300" b="0">
                <a:solidFill>
                  <a:srgbClr val="1F1F1F"/>
                </a:solidFill>
                <a:latin typeface="Microsoft YaHei"/>
              </a:rPr>
              <a:t>但软件系统故障机理不能直接等同于电力设备故障。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对本项目的落点：图谱作为关系增强，Agent 作为受控编排，规则与证据校验仍是底线。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可信生成：检索时机、纠错与归因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对应 Self-RAG、CRAG、RARR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520440" cy="22860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73152" cy="2286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28216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F5597"/>
                </a:solidFill>
                <a:latin typeface="Microsoft YaHei"/>
              </a:rPr>
              <a:t>Self-RAG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31136"/>
            <a:ext cx="3154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自适应判断：什么时候需要检索？检索内容是否支持结论？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520440" cy="22860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73152" cy="2286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728216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D7D31"/>
                </a:solidFill>
                <a:latin typeface="Microsoft YaHei"/>
              </a:rPr>
              <a:t>CRAG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231136"/>
            <a:ext cx="3154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检索质量评估：准确、模糊、错误三类路径，触发纠错或补充检索。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3520440" cy="22860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00200"/>
            <a:ext cx="73152" cy="2286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728216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70AD47"/>
                </a:solidFill>
                <a:latin typeface="Microsoft YaHei"/>
              </a:rPr>
              <a:t>RARR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231136"/>
            <a:ext cx="3154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生成后研究与修订：逐条核查，删除或改写无依据内容。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Microsoft YaHei"/>
              </a:rPr>
              <a:t>本项目落点：条号引用正确、证据原文匹配、未命中拒答、危险建议拦截。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项目当前状态与自测结论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已有主干闭环，但检索链路仍处于基础阶段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5303520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73152" cy="1417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91056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70AD47"/>
                </a:solidFill>
                <a:latin typeface="Microsoft YaHei"/>
              </a:rPr>
              <a:t>已有能力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93976"/>
            <a:ext cx="493775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基础向量检索 · Top-k · 条号过滤 · 阈值拒答 · 强制引用 · DeepSeek 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73152" cy="1417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591056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D7D31"/>
                </a:solidFill>
                <a:latin typeface="Microsoft YaHei"/>
              </a:rPr>
              <a:t>主要缺口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093976"/>
            <a:ext cx="493775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查询改写 · BM25 混合检索 · Reranker · 上下文压缩 · 完整评测体系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22960" y="324612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4572000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表现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判断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结构化长文本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带引用逐项分析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成功，但依赖 Top-3 命中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噪声输入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忽略无关内容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抗噪较好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领域内模糊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要求补数据或拒答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有安全边界，检索不稳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极端口语化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直接拒答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1F1F"/>
                          </a:solidFill>
                          <a:latin typeface="Microsoft YaHei"/>
                        </a:defRPr>
                      </a:pPr>
                      <a:r>
                        <a:t>防幻觉强，召回失效</a:t>
                      </a:r>
                    </a:p>
                  </a:txBody>
                  <a:tcPr marL="45720" marR="45720" marT="27432" marB="27432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项目下一步发展：P0–P2 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优先解决检索与引用，不先堆复杂架构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520440" cy="36576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3520440" cy="685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733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P0｜近期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6888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ED7D31"/>
                </a:solidFill>
                <a:latin typeface="Microsoft YaHei"/>
              </a:rPr>
              <a:t>混合检索 + 引用校验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30632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解决问题：术语漏检、条号不匹配、无依据输出。
产出：BM25+Dense、RARR 简化校验。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06240" y="3154680"/>
            <a:ext cx="201168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520440" cy="36576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3520440" cy="685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733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P1｜中期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46888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F5597"/>
                </a:solidFill>
                <a:latin typeface="Microsoft YaHei"/>
              </a:rPr>
              <a:t>查询改写 + Reranker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00400"/>
            <a:ext cx="30632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解决问题：口语化失配、正确条文未进 Top-3。
产出：术语映射表、Top-10 重排到 Top-3。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46720" y="3154680"/>
            <a:ext cx="201168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1554480"/>
            <a:ext cx="3520440" cy="36576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554480"/>
            <a:ext cx="3520440" cy="6858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67335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P2｜后续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46888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70AD47"/>
                </a:solidFill>
                <a:latin typeface="Microsoft YaHei"/>
              </a:rPr>
              <a:t>子查询分解 + 轻量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200400"/>
            <a:ext cx="30632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Microsoft YaHei"/>
              </a:rPr>
              <a:t>解决问题：复杂多跳、跨文档因果和关系查询。
产出：小图谱和消融实验。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目标系统架构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规则、检索、Agent、LLM、校验、人工复核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965960"/>
            <a:ext cx="1481328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输入层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设备 / DGA / 试验 / 巡检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37360" y="2542032"/>
            <a:ext cx="164592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2024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1965960"/>
            <a:ext cx="1481328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339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规则层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注意值 / 速率 / 三比值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29000" y="2542032"/>
            <a:ext cx="164592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1188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1965960"/>
            <a:ext cx="1481328" cy="47548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混合检索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BM25 + 向量 + Rerank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120640" y="2542032"/>
            <a:ext cx="164592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0" y="1965960"/>
            <a:ext cx="1481328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667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证据组织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条号 / 页码 / 原文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812280" y="2542032"/>
            <a:ext cx="164592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516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5160" y="1965960"/>
            <a:ext cx="1481328" cy="47548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831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Agent +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根因链 / 处置建议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503920" y="2542032"/>
            <a:ext cx="164592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0" y="1965960"/>
            <a:ext cx="1481328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995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校验层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引用 / Schema / 规则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0195560" y="2542032"/>
            <a:ext cx="164592" cy="32004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378440" y="1965960"/>
            <a:ext cx="1481328" cy="14173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378440" y="1965960"/>
            <a:ext cx="1481328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51592" y="2057400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输出层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1592" y="2560320"/>
            <a:ext cx="13350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Microsoft YaHei"/>
              </a:rPr>
              <a:t>报告 + 人工复核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16052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F4E79"/>
                </a:solidFill>
                <a:latin typeface="Microsoft YaHei"/>
              </a:rPr>
              <a:t>关键原则：规则先行、证据可回链、低置信拒答、高风险转人工。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28800" y="4892040"/>
            <a:ext cx="8503920" cy="9144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0" y="4892040"/>
            <a:ext cx="73152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29968" y="5020055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AD47"/>
                </a:solidFill>
                <a:latin typeface="Microsoft YaHei"/>
              </a:rPr>
              <a:t>差异化定位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9968" y="5522975"/>
            <a:ext cx="813816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轻量化部署 · 聚焦 DGA · 条号级可追溯 · 不自动执行高风险操作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评测与验收指标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证明升级有效，而不是只证明系统能运行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73152" cy="1554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82495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F5597"/>
                </a:solidFill>
                <a:latin typeface="Microsoft YaHei"/>
              </a:rPr>
              <a:t>检索质量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85415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Microsoft YaHei"/>
              </a:rPr>
              <a:t>Recall@k · Hit Rate
MRR / NDCG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73152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82495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D7D31"/>
                </a:solidFill>
                <a:latin typeface="Microsoft YaHei"/>
              </a:rPr>
              <a:t>引用质量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85415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Microsoft YaHei"/>
              </a:rPr>
              <a:t>条号正确率 · 原文匹配率
无依据结论比例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474720"/>
            <a:ext cx="73152" cy="1554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602736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70AD47"/>
                </a:solidFill>
                <a:latin typeface="Microsoft YaHei"/>
              </a:rPr>
              <a:t>安全质量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105656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Microsoft YaHei"/>
              </a:rPr>
              <a:t>未命中拒答准确率
危险建议拦截率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303520" cy="155448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73152" cy="15544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602736"/>
            <a:ext cx="4937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7030A0"/>
                </a:solidFill>
                <a:latin typeface="Microsoft YaHei"/>
              </a:rPr>
              <a:t>工程效率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05656"/>
            <a:ext cx="493775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1F1F"/>
                </a:solidFill>
                <a:latin typeface="Microsoft YaHei"/>
              </a:rPr>
              <a:t>端到端延迟 · Token 成本
消融增益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建议先建立 50–100 条查询—正确条款—正确结论—拒答边界评测集。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icrosoft YaHei"/>
              </a:rPr>
              <a:t>未来展望：三个阶段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从 DGA 助手走向工业诊断智能体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520440" cy="26517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73152" cy="26517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28216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Microsoft YaHei"/>
              </a:rPr>
              <a:t>近期｜可信 DGA 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31136"/>
            <a:ext cx="315468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规则库 + 高级 RAG + 引用校验
目标：结论可溯源、未命中可拒答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520440" cy="26517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73152" cy="26517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728216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5597"/>
                </a:solidFill>
                <a:latin typeface="Microsoft YaHei"/>
              </a:rPr>
              <a:t>中期｜知识增强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231136"/>
            <a:ext cx="315468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轻量 KG + Agent 工具编排 + 多轮追问
目标：跨文档因果与多步骤排障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3520440" cy="265176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B4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00200"/>
            <a:ext cx="73152" cy="2651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728216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30A0"/>
                </a:solidFill>
                <a:latin typeface="Microsoft YaHei"/>
              </a:rPr>
              <a:t>远期｜多模态工业诊断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231136"/>
            <a:ext cx="315468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Microsoft YaHei"/>
              </a:rPr>
              <a:t>DGA + 红外 + 声学 + 巡检文本 + 运行数据
目标：现场辅助诊断，人工复核兜底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Microsoft YaHei"/>
              </a:rPr>
              <a:t>持续原则：知识更新靠 RAG，安全边界靠规则，复杂推理靠 Agent，最终责任由人承担。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不做纯 LLM 诊断，做可验证的混合诊断系统。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D6E7F6"/>
                </a:solidFill>
                <a:latin typeface="Microsoft YaHei"/>
              </a:rPr>
              <a:t>规则给骨架  ·  RAG 给证据  ·  Agent 做编排  ·  LLM 做解释  ·  人工做复核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4343400"/>
            <a:ext cx="83210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下一步：先做混合检索与引用校验，再推进查询改写、Reranker 与轻量知识图谱。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95959"/>
                </a:solidFill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